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/>
    <p:restoredTop sz="94678"/>
  </p:normalViewPr>
  <p:slideViewPr>
    <p:cSldViewPr>
      <p:cViewPr>
        <p:scale>
          <a:sx n="91" d="100"/>
          <a:sy n="91" d="100"/>
        </p:scale>
        <p:origin x="1472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364E49-FBFA-8147-A40F-449F8F3E1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DBD183-C1C5-053D-8983-65D51753D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6DB126-7525-F47F-0074-13813A369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0075D-7579-884E-BB1C-5B4A9C5031B3}" type="datetimeFigureOut">
              <a:t>2026/7/4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F49ABE-C727-97A7-8C77-FD45E4BC7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2AB011-DBD0-7334-C14B-5460D46D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A257E-797D-D340-B12D-5E1BED7629F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115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8BE0D8-A109-58F7-2D63-8119B1604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FF5A1A-D166-20E4-731A-0000CCF10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7EC368-1EB3-722E-173A-19204B971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0075D-7579-884E-BB1C-5B4A9C5031B3}" type="datetimeFigureOut">
              <a:t>2026/7/4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D15152-5E2B-C53B-0A14-4C36E7168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2B8C42-BD1B-C4B1-C6D7-0B32F9465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A257E-797D-D340-B12D-5E1BED7629F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4702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D41FF4-8F48-5B6C-2584-2D4FD91A0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42A164-5FCF-A18D-6678-C580B2C09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D46AE7-A274-2243-54F2-DED539ED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0075D-7579-884E-BB1C-5B4A9C5031B3}" type="datetimeFigureOut">
              <a:t>2026/7/4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F2B7E7-0014-110B-46B2-E3AF3E9A2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3E4429-854F-5281-35BC-34F4A7A6C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A257E-797D-D340-B12D-5E1BED7629F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8001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B1E63-0780-ADBD-CDD1-7EE5D0764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48B27F-9CD7-0CE6-F002-322FE841E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1A6AF3-F178-69A7-8D0B-E3D449A7C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C33C72-9016-9F34-DB1F-59E61FFF9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0075D-7579-884E-BB1C-5B4A9C5031B3}" type="datetimeFigureOut">
              <a:t>2026/7/4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C25F53-585D-099C-7B49-CA0D60DAE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B9E735-89FF-D55B-AF3B-C36C17B77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A257E-797D-D340-B12D-5E1BED7629F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867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2B0324-2A6C-7B65-BC4D-A99F96437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5A98FE-53D9-CAD9-0D2C-A30E7B506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4B1171-F0AD-8B85-E851-8EBC56DE5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82E2C1-546A-9E90-5A04-19BCAC51E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1A6293-4EBF-9512-ED88-588FD041A1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D026BE-FCF6-2386-142B-C3602E2D8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0075D-7579-884E-BB1C-5B4A9C5031B3}" type="datetimeFigureOut">
              <a:t>2026/7/4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AB4E10-391A-1B1C-BF4A-9C0A9D5FF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E6DB4C9-1A04-F5F0-B645-C7E7BC75F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A257E-797D-D340-B12D-5E1BED7629F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913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91E36D-2B95-B779-659D-B3B366E6E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F2505B-2089-D3AC-7C24-AE96E593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0075D-7579-884E-BB1C-5B4A9C5031B3}" type="datetimeFigureOut">
              <a:t>2026/7/4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E0D4608-07B9-D74F-D738-15CEE613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1EA738-8C56-4480-3290-670A12222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A257E-797D-D340-B12D-5E1BED7629F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82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846D2E-5BF6-D43E-2C79-C4B053D4C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0075D-7579-884E-BB1C-5B4A9C5031B3}" type="datetimeFigureOut">
              <a:t>2026/7/4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483FA1-ED21-5047-A587-3F25AF8F0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800A45-2CC3-8296-0A1B-DA3471A10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A257E-797D-D340-B12D-5E1BED7629F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6892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02D004-78C9-02D9-98B8-2183CDC83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538A0F-59E2-634A-430E-23B863289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877CB3-E2FD-F9D6-E04D-7706E1B50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050FB7-2266-7045-1511-AEB167B16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0075D-7579-884E-BB1C-5B4A9C5031B3}" type="datetimeFigureOut">
              <a:t>2026/7/4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D85AA5-446B-5FC9-873A-06926BDDE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584193-5C31-D7DB-1093-76BE0DC0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A257E-797D-D340-B12D-5E1BED7629F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2328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DA05FC-B6E3-6242-9150-501D156B9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80F69A-B41C-6F53-3162-322DF1C587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EE7FBB-414E-AA0A-48F2-A74B644B6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502AA3-868F-4EE9-9514-0175E854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0075D-7579-884E-BB1C-5B4A9C5031B3}" type="datetimeFigureOut">
              <a:t>2026/7/4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8F4787-6562-9967-9A66-253576ADC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CD1B91-98B4-8BDF-2633-C8E4AC5F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A257E-797D-D340-B12D-5E1BED7629F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0159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49BC11-856F-3D18-AA28-2687135B2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A68325-E9FC-E7CE-EF15-AEFAEF87D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D42A39-DD5E-E587-7D4D-E063EDA8D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0075D-7579-884E-BB1C-5B4A9C5031B3}" type="datetimeFigureOut">
              <a:t>2026/7/4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FDC57D-A2F2-D093-4420-213CF16AE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637CDA-2F4F-B548-077B-962E7003D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A257E-797D-D340-B12D-5E1BED7629F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502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8F8D03-A100-E8B1-DB58-DEF608BA1A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4962FA-0ABF-06FF-3150-F6752E2CA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65F599-9180-CDE6-DE3F-884178ED9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0075D-7579-884E-BB1C-5B4A9C5031B3}" type="datetimeFigureOut">
              <a:t>2026/7/4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481DC6-052A-E194-8252-1E3B5049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70204A-B993-D762-4E14-DBB66293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A257E-797D-D340-B12D-5E1BED7629F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0004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E89FCD1-FF9B-C2D6-5B3D-A5619B2BA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B8DF05-DF9C-C5D7-8D14-B0A755C3A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6264C3-9FE9-0362-0EDB-F59C99DFA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20075D-7579-884E-BB1C-5B4A9C5031B3}" type="datetimeFigureOut">
              <a:t>2026/7/4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1A63F2-5A5F-8F8E-5824-AA357E1AE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33495A-BE06-DDD9-3A34-DA49C14E6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5A257E-797D-D340-B12D-5E1BED7629FA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7733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立方体 25">
            <a:extLst>
              <a:ext uri="{FF2B5EF4-FFF2-40B4-BE49-F238E27FC236}">
                <a16:creationId xmlns:a16="http://schemas.microsoft.com/office/drawing/2014/main" id="{FF3979DB-11CA-A513-DF28-1D774540F6D4}"/>
              </a:ext>
            </a:extLst>
          </p:cNvPr>
          <p:cNvSpPr/>
          <p:nvPr/>
        </p:nvSpPr>
        <p:spPr>
          <a:xfrm>
            <a:off x="4706922" y="358513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46846EF-BC6E-3443-F2D1-03739EFBABDB}"/>
                  </a:ext>
                </a:extLst>
              </p:cNvPr>
              <p:cNvSpPr txBox="1"/>
              <p:nvPr/>
            </p:nvSpPr>
            <p:spPr>
              <a:xfrm>
                <a:off x="4765840" y="121332"/>
                <a:ext cx="636713" cy="237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l-GR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bSup>
                        <m:sSubSupPr>
                          <m:ctrlP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𝑔𝑒𝑜</m:t>
                          </m:r>
                        </m:sup>
                      </m:sSubSup>
                    </m:oMath>
                  </m:oMathPara>
                </a14:m>
                <a:endParaRPr kumimoji="1" lang="zh-CN" altLang="en-US" sz="1400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46846EF-BC6E-3443-F2D1-03739EFBA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840" y="121332"/>
                <a:ext cx="636713" cy="237181"/>
              </a:xfrm>
              <a:prstGeom prst="rect">
                <a:avLst/>
              </a:prstGeom>
              <a:blipFill>
                <a:blip r:embed="rId3"/>
                <a:stretch>
                  <a:fillRect l="-5882" r="-1961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立方体 27">
            <a:extLst>
              <a:ext uri="{FF2B5EF4-FFF2-40B4-BE49-F238E27FC236}">
                <a16:creationId xmlns:a16="http://schemas.microsoft.com/office/drawing/2014/main" id="{7B310C41-0CC6-2105-D3CC-268959932C74}"/>
              </a:ext>
            </a:extLst>
          </p:cNvPr>
          <p:cNvSpPr/>
          <p:nvPr/>
        </p:nvSpPr>
        <p:spPr>
          <a:xfrm>
            <a:off x="5732580" y="358513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4"/>
            <a:srcRect/>
            <a:stretch>
              <a:fillRect/>
            </a:stretch>
          </a:blip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5F562CE2-2B30-91DB-FF69-4D9537BCA6BF}"/>
                  </a:ext>
                </a:extLst>
              </p:cNvPr>
              <p:cNvSpPr txBox="1"/>
              <p:nvPr/>
            </p:nvSpPr>
            <p:spPr>
              <a:xfrm>
                <a:off x="5783971" y="121332"/>
                <a:ext cx="622670" cy="237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l-GR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sSubSup>
                        <m:sSubSupPr>
                          <m:ctrlP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𝑔𝑒𝑜</m:t>
                          </m:r>
                        </m:sup>
                      </m:sSubSup>
                    </m:oMath>
                  </m:oMathPara>
                </a14:m>
                <a:endParaRPr kumimoji="1" lang="zh-CN" altLang="en-US" sz="1400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5F562CE2-2B30-91DB-FF69-4D9537BCA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971" y="121332"/>
                <a:ext cx="622670" cy="237181"/>
              </a:xfrm>
              <a:prstGeom prst="rect">
                <a:avLst/>
              </a:prstGeom>
              <a:blipFill>
                <a:blip r:embed="rId5"/>
                <a:stretch>
                  <a:fillRect l="-6000" r="-2000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立方体 54">
            <a:extLst>
              <a:ext uri="{FF2B5EF4-FFF2-40B4-BE49-F238E27FC236}">
                <a16:creationId xmlns:a16="http://schemas.microsoft.com/office/drawing/2014/main" id="{35E23D5D-CFF9-D4DC-8802-3FE4B29850E3}"/>
              </a:ext>
            </a:extLst>
          </p:cNvPr>
          <p:cNvSpPr/>
          <p:nvPr/>
        </p:nvSpPr>
        <p:spPr>
          <a:xfrm>
            <a:off x="6704482" y="358513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6"/>
            <a:srcRect/>
            <a:stretch>
              <a:fillRect/>
            </a:stretch>
          </a:blip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C402253-BA10-D4D7-8665-2781CE517365}"/>
                  </a:ext>
                </a:extLst>
              </p:cNvPr>
              <p:cNvSpPr txBox="1"/>
              <p:nvPr/>
            </p:nvSpPr>
            <p:spPr>
              <a:xfrm>
                <a:off x="6744966" y="121332"/>
                <a:ext cx="673582" cy="237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l-GR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sSubSup>
                        <m:sSubSupPr>
                          <m:ctrlP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𝑔𝑒𝑜</m:t>
                          </m:r>
                        </m:sup>
                      </m:sSubSup>
                    </m:oMath>
                  </m:oMathPara>
                </a14:m>
                <a:endParaRPr kumimoji="1" lang="zh-CN" altLang="en-US" sz="1400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C402253-BA10-D4D7-8665-2781CE517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966" y="121332"/>
                <a:ext cx="673582" cy="237181"/>
              </a:xfrm>
              <a:prstGeom prst="rect">
                <a:avLst/>
              </a:prstGeom>
              <a:blipFill>
                <a:blip r:embed="rId7"/>
                <a:stretch>
                  <a:fillRect l="-3636" r="-1818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圆角矩形 56">
            <a:extLst>
              <a:ext uri="{FF2B5EF4-FFF2-40B4-BE49-F238E27FC236}">
                <a16:creationId xmlns:a16="http://schemas.microsoft.com/office/drawing/2014/main" id="{4B76FE85-FF1C-D685-8D8D-C6114F728FE9}"/>
              </a:ext>
            </a:extLst>
          </p:cNvPr>
          <p:cNvSpPr/>
          <p:nvPr/>
        </p:nvSpPr>
        <p:spPr>
          <a:xfrm>
            <a:off x="4686602" y="1371737"/>
            <a:ext cx="2818795" cy="581758"/>
          </a:xfrm>
          <a:prstGeom prst="roundRect">
            <a:avLst/>
          </a:prstGeom>
          <a:solidFill>
            <a:srgbClr val="F6FBF6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Channel Concatenation</a:t>
            </a: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圆角矩形 57">
                <a:extLst>
                  <a:ext uri="{FF2B5EF4-FFF2-40B4-BE49-F238E27FC236}">
                    <a16:creationId xmlns:a16="http://schemas.microsoft.com/office/drawing/2014/main" id="{E5C70DC6-BFA5-EEBB-D4D1-6C7DE058002C}"/>
                  </a:ext>
                </a:extLst>
              </p:cNvPr>
              <p:cNvSpPr/>
              <p:nvPr/>
            </p:nvSpPr>
            <p:spPr>
              <a:xfrm>
                <a:off x="4686602" y="2351158"/>
                <a:ext cx="2818795" cy="581758"/>
              </a:xfrm>
              <a:prstGeom prst="roundRect">
                <a:avLst/>
              </a:prstGeom>
              <a:solidFill>
                <a:srgbClr val="F6FBF6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Conv</a:t>
                </a: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 </a:t>
                </a: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3</a:t>
                </a: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 </a:t>
                </a: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3</a:t>
                </a: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r>
                      <a:rPr kumimoji="1" lang="en-US" altLang="zh-C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3</m:t>
                    </m:r>
                    <m:r>
                      <a:rPr kumimoji="1" lang="en-US" altLang="zh-C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→16</m:t>
                    </m:r>
                  </m:oMath>
                </a14:m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58" name="圆角矩形 57">
                <a:extLst>
                  <a:ext uri="{FF2B5EF4-FFF2-40B4-BE49-F238E27FC236}">
                    <a16:creationId xmlns:a16="http://schemas.microsoft.com/office/drawing/2014/main" id="{E5C70DC6-BFA5-EEBB-D4D1-6C7DE0580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602" y="2351158"/>
                <a:ext cx="2818795" cy="581758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圆角矩形 58">
            <a:extLst>
              <a:ext uri="{FF2B5EF4-FFF2-40B4-BE49-F238E27FC236}">
                <a16:creationId xmlns:a16="http://schemas.microsoft.com/office/drawing/2014/main" id="{393B83CA-C336-DF9E-D4CE-9772F32DBB47}"/>
              </a:ext>
            </a:extLst>
          </p:cNvPr>
          <p:cNvSpPr/>
          <p:nvPr/>
        </p:nvSpPr>
        <p:spPr>
          <a:xfrm>
            <a:off x="4686602" y="3195411"/>
            <a:ext cx="2818795" cy="581758"/>
          </a:xfrm>
          <a:prstGeom prst="roundRect">
            <a:avLst/>
          </a:prstGeom>
          <a:solidFill>
            <a:srgbClr val="F6FBF6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LeakyReLU, slope=0.1</a:t>
            </a: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FE2FE817-F534-7F77-42CF-93A844AAB288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>
            <a:off x="6096000" y="2932916"/>
            <a:ext cx="0" cy="26249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093EF75D-03BD-9AC0-4DAC-801FF8004B6A}"/>
              </a:ext>
            </a:extLst>
          </p:cNvPr>
          <p:cNvCxnSpPr>
            <a:cxnSpLocks/>
            <a:stCxn id="57" idx="2"/>
            <a:endCxn id="58" idx="0"/>
          </p:cNvCxnSpPr>
          <p:nvPr/>
        </p:nvCxnSpPr>
        <p:spPr>
          <a:xfrm>
            <a:off x="6096000" y="1953495"/>
            <a:ext cx="0" cy="397663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D5B03B37-3806-97DE-AB9A-B20E7F8F42CC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5069648" y="940271"/>
            <a:ext cx="0" cy="43146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3" name="直线箭头连接符 62">
            <a:extLst>
              <a:ext uri="{FF2B5EF4-FFF2-40B4-BE49-F238E27FC236}">
                <a16:creationId xmlns:a16="http://schemas.microsoft.com/office/drawing/2014/main" id="{F1C5E0CE-E2A6-A404-E758-5AFFF26D2C64}"/>
              </a:ext>
            </a:extLst>
          </p:cNvPr>
          <p:cNvCxnSpPr>
            <a:cxnSpLocks/>
            <a:stCxn id="28" idx="3"/>
            <a:endCxn id="57" idx="0"/>
          </p:cNvCxnSpPr>
          <p:nvPr/>
        </p:nvCxnSpPr>
        <p:spPr>
          <a:xfrm>
            <a:off x="6095306" y="940271"/>
            <a:ext cx="694" cy="43146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4" name="直线箭头连接符 63">
            <a:extLst>
              <a:ext uri="{FF2B5EF4-FFF2-40B4-BE49-F238E27FC236}">
                <a16:creationId xmlns:a16="http://schemas.microsoft.com/office/drawing/2014/main" id="{059B67C0-F523-7920-609C-2F693BA51AC9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7067208" y="940271"/>
            <a:ext cx="0" cy="43146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圆角矩形 64">
                <a:extLst>
                  <a:ext uri="{FF2B5EF4-FFF2-40B4-BE49-F238E27FC236}">
                    <a16:creationId xmlns:a16="http://schemas.microsoft.com/office/drawing/2014/main" id="{13397E6A-1128-C9DB-9B11-EDCB3F83D115}"/>
                  </a:ext>
                </a:extLst>
              </p:cNvPr>
              <p:cNvSpPr/>
              <p:nvPr/>
            </p:nvSpPr>
            <p:spPr>
              <a:xfrm>
                <a:off x="4685908" y="4039664"/>
                <a:ext cx="2818795" cy="581758"/>
              </a:xfrm>
              <a:prstGeom prst="roundRect">
                <a:avLst/>
              </a:prstGeom>
              <a:solidFill>
                <a:srgbClr val="F6FBF6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Conv</a:t>
                </a: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 </a:t>
                </a: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3</a:t>
                </a: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 </a:t>
                </a: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3</a:t>
                </a: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r>
                      <a:rPr kumimoji="1" lang="en-US" altLang="zh-C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16</m:t>
                    </m:r>
                    <m:r>
                      <a:rPr kumimoji="1" lang="en-US" altLang="zh-C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→1</m:t>
                    </m:r>
                  </m:oMath>
                </a14:m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65" name="圆角矩形 64">
                <a:extLst>
                  <a:ext uri="{FF2B5EF4-FFF2-40B4-BE49-F238E27FC236}">
                    <a16:creationId xmlns:a16="http://schemas.microsoft.com/office/drawing/2014/main" id="{13397E6A-1128-C9DB-9B11-EDCB3F83D1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908" y="4039664"/>
                <a:ext cx="2818795" cy="581758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CBB86696-9259-32AE-5F14-2136BB3DCA21}"/>
              </a:ext>
            </a:extLst>
          </p:cNvPr>
          <p:cNvCxnSpPr>
            <a:cxnSpLocks/>
            <a:stCxn id="59" idx="2"/>
            <a:endCxn id="65" idx="0"/>
          </p:cNvCxnSpPr>
          <p:nvPr/>
        </p:nvCxnSpPr>
        <p:spPr>
          <a:xfrm flipH="1">
            <a:off x="6095306" y="3777169"/>
            <a:ext cx="694" cy="26249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AD750615-E053-8635-CEB4-FDCBAF45DC3C}"/>
              </a:ext>
            </a:extLst>
          </p:cNvPr>
          <p:cNvSpPr/>
          <p:nvPr/>
        </p:nvSpPr>
        <p:spPr>
          <a:xfrm>
            <a:off x="4685907" y="4883917"/>
            <a:ext cx="2818795" cy="581758"/>
          </a:xfrm>
          <a:prstGeom prst="roundRect">
            <a:avLst/>
          </a:prstGeom>
          <a:solidFill>
            <a:srgbClr val="F8EAF1"/>
          </a:solidFill>
          <a:ln w="12700" cap="flat" cmpd="sng" algn="ctr">
            <a:solidFill>
              <a:srgbClr val="9B315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Sigmoid</a:t>
            </a: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A4428480-0429-82D0-67D2-83EEF3ACCA06}"/>
              </a:ext>
            </a:extLst>
          </p:cNvPr>
          <p:cNvCxnSpPr>
            <a:cxnSpLocks/>
            <a:stCxn id="65" idx="2"/>
            <a:endCxn id="67" idx="0"/>
          </p:cNvCxnSpPr>
          <p:nvPr/>
        </p:nvCxnSpPr>
        <p:spPr>
          <a:xfrm flipH="1">
            <a:off x="6095305" y="4621422"/>
            <a:ext cx="1" cy="26249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6F4D536D-C9E5-425B-785C-79BBCA5E3DFB}"/>
              </a:ext>
            </a:extLst>
          </p:cNvPr>
          <p:cNvCxnSpPr>
            <a:cxnSpLocks/>
            <a:stCxn id="67" idx="2"/>
          </p:cNvCxnSpPr>
          <p:nvPr/>
        </p:nvCxnSpPr>
        <p:spPr>
          <a:xfrm flipH="1">
            <a:off x="6095304" y="5465675"/>
            <a:ext cx="1" cy="26249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0" name="立方体 69">
            <a:extLst>
              <a:ext uri="{FF2B5EF4-FFF2-40B4-BE49-F238E27FC236}">
                <a16:creationId xmlns:a16="http://schemas.microsoft.com/office/drawing/2014/main" id="{BFAF6CFD-A21C-03FC-15CF-0653D13AC800}"/>
              </a:ext>
            </a:extLst>
          </p:cNvPr>
          <p:cNvSpPr/>
          <p:nvPr/>
        </p:nvSpPr>
        <p:spPr>
          <a:xfrm>
            <a:off x="5718028" y="5728170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10"/>
            <a:srcRect/>
            <a:stretch>
              <a:fillRect/>
            </a:stretch>
          </a:blipFill>
          <a:ln w="12700" cap="flat" cmpd="sng" algn="ctr">
            <a:solidFill>
              <a:srgbClr val="4874C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4A14C6AE-BE72-FB53-1281-C4D3621C07B1}"/>
                  </a:ext>
                </a:extLst>
              </p:cNvPr>
              <p:cNvSpPr txBox="1"/>
              <p:nvPr/>
            </p:nvSpPr>
            <p:spPr>
              <a:xfrm>
                <a:off x="6581306" y="5876029"/>
                <a:ext cx="713272" cy="3680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</m:rPr>
                            <a:rPr lang="en-US" altLang="zh-CN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CN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local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4A14C6AE-BE72-FB53-1281-C4D3621C0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306" y="5876029"/>
                <a:ext cx="713272" cy="368049"/>
              </a:xfrm>
              <a:prstGeom prst="rect">
                <a:avLst/>
              </a:prstGeom>
              <a:blipFill>
                <a:blip r:embed="rId11"/>
                <a:stretch>
                  <a:fillRect l="-5263" t="-3333" r="-7018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6ADBB31B-4254-18D8-8A3C-C04F75DA73C8}"/>
                  </a:ext>
                </a:extLst>
              </p:cNvPr>
              <p:cNvSpPr txBox="1"/>
              <p:nvPr/>
            </p:nvSpPr>
            <p:spPr>
              <a:xfrm>
                <a:off x="5496205" y="6464701"/>
                <a:ext cx="133632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×1×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/2×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kumimoji="1" lang="zh-CN" altLang="en-US" sz="1400">
                  <a:solidFill>
                    <a:prstClr val="black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6ADBB31B-4254-18D8-8A3C-C04F75DA7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6205" y="6464701"/>
                <a:ext cx="1336328" cy="215444"/>
              </a:xfrm>
              <a:prstGeom prst="rect">
                <a:avLst/>
              </a:prstGeom>
              <a:blipFill>
                <a:blip r:embed="rId12"/>
                <a:stretch>
                  <a:fillRect l="-1869" r="-1869" b="-2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A7081E4A-2652-8F40-F30F-710285044992}"/>
                  </a:ext>
                </a:extLst>
              </p:cNvPr>
              <p:cNvSpPr txBox="1"/>
              <p:nvPr/>
            </p:nvSpPr>
            <p:spPr>
              <a:xfrm>
                <a:off x="6179576" y="2048984"/>
                <a:ext cx="133632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×3×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/2×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kumimoji="1" lang="zh-CN" altLang="en-US" sz="1400">
                  <a:solidFill>
                    <a:prstClr val="black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A7081E4A-2652-8F40-F30F-710285044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576" y="2048984"/>
                <a:ext cx="1336328" cy="215444"/>
              </a:xfrm>
              <a:prstGeom prst="rect">
                <a:avLst/>
              </a:prstGeom>
              <a:blipFill>
                <a:blip r:embed="rId13"/>
                <a:stretch>
                  <a:fillRect l="-2830" t="-5556" r="-2830" b="-2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41BA002E-94E2-C0AC-F6BA-181AA391C37B}"/>
                  </a:ext>
                </a:extLst>
              </p:cNvPr>
              <p:cNvSpPr txBox="1"/>
              <p:nvPr/>
            </p:nvSpPr>
            <p:spPr>
              <a:xfrm>
                <a:off x="7121657" y="1010279"/>
                <a:ext cx="225805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Each</m:t>
                      </m:r>
                      <m:r>
                        <a:rPr kumimoji="1" lang="zh-CN" altLang="en-US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Map</m:t>
                      </m:r>
                      <m:r>
                        <a:rPr kumimoji="1" lang="zh-CN" altLang="en-US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×1×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/2×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kumimoji="1" lang="zh-CN" altLang="en-US" sz="1400">
                  <a:solidFill>
                    <a:prstClr val="black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41BA002E-94E2-C0AC-F6BA-181AA391C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657" y="1010279"/>
                <a:ext cx="2258054" cy="215444"/>
              </a:xfrm>
              <a:prstGeom prst="rect">
                <a:avLst/>
              </a:prstGeom>
              <a:blipFill>
                <a:blip r:embed="rId14"/>
                <a:stretch>
                  <a:fillRect l="-1676" t="-11111" r="-1117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589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B6F48-F520-B767-70FE-6A8D5E5F7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立方体 25">
            <a:extLst>
              <a:ext uri="{FF2B5EF4-FFF2-40B4-BE49-F238E27FC236}">
                <a16:creationId xmlns:a16="http://schemas.microsoft.com/office/drawing/2014/main" id="{04062A4E-9C48-F079-CA70-17398AA5053D}"/>
              </a:ext>
            </a:extLst>
          </p:cNvPr>
          <p:cNvSpPr/>
          <p:nvPr/>
        </p:nvSpPr>
        <p:spPr>
          <a:xfrm>
            <a:off x="4706922" y="358513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C67A6DF9-128B-E3A2-48F3-D7CC2BF303A4}"/>
                  </a:ext>
                </a:extLst>
              </p:cNvPr>
              <p:cNvSpPr txBox="1"/>
              <p:nvPr/>
            </p:nvSpPr>
            <p:spPr>
              <a:xfrm>
                <a:off x="4765840" y="121332"/>
                <a:ext cx="636713" cy="237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l-GR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bSup>
                        <m:sSubSupPr>
                          <m:ctrlP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𝑔𝑒𝑜</m:t>
                          </m:r>
                        </m:sup>
                      </m:sSubSup>
                    </m:oMath>
                  </m:oMathPara>
                </a14:m>
                <a:endParaRPr kumimoji="1" lang="zh-CN" altLang="en-US" sz="1400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46846EF-BC6E-3443-F2D1-03739EFBA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840" y="121332"/>
                <a:ext cx="636713" cy="237181"/>
              </a:xfrm>
              <a:prstGeom prst="rect">
                <a:avLst/>
              </a:prstGeom>
              <a:blipFill>
                <a:blip r:embed="rId3"/>
                <a:stretch>
                  <a:fillRect l="-5882" r="-1961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立方体 27">
            <a:extLst>
              <a:ext uri="{FF2B5EF4-FFF2-40B4-BE49-F238E27FC236}">
                <a16:creationId xmlns:a16="http://schemas.microsoft.com/office/drawing/2014/main" id="{A661C4D2-679E-8D2F-8366-D72733EB8BBF}"/>
              </a:ext>
            </a:extLst>
          </p:cNvPr>
          <p:cNvSpPr/>
          <p:nvPr/>
        </p:nvSpPr>
        <p:spPr>
          <a:xfrm>
            <a:off x="5732580" y="358513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4"/>
            <a:srcRect/>
            <a:stretch>
              <a:fillRect/>
            </a:stretch>
          </a:blip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AECCAA71-C677-8775-6DBF-1EB19CEAB986}"/>
                  </a:ext>
                </a:extLst>
              </p:cNvPr>
              <p:cNvSpPr txBox="1"/>
              <p:nvPr/>
            </p:nvSpPr>
            <p:spPr>
              <a:xfrm>
                <a:off x="5783971" y="121332"/>
                <a:ext cx="622670" cy="237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l-GR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sSubSup>
                        <m:sSubSupPr>
                          <m:ctrlP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𝑔𝑒𝑜</m:t>
                          </m:r>
                        </m:sup>
                      </m:sSubSup>
                    </m:oMath>
                  </m:oMathPara>
                </a14:m>
                <a:endParaRPr kumimoji="1" lang="zh-CN" altLang="en-US" sz="1400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5F562CE2-2B30-91DB-FF69-4D9537BCA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971" y="121332"/>
                <a:ext cx="622670" cy="237181"/>
              </a:xfrm>
              <a:prstGeom prst="rect">
                <a:avLst/>
              </a:prstGeom>
              <a:blipFill>
                <a:blip r:embed="rId5"/>
                <a:stretch>
                  <a:fillRect l="-6000" r="-2000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立方体 54">
            <a:extLst>
              <a:ext uri="{FF2B5EF4-FFF2-40B4-BE49-F238E27FC236}">
                <a16:creationId xmlns:a16="http://schemas.microsoft.com/office/drawing/2014/main" id="{76E651E7-6F77-7D0C-7C33-B69997C57B17}"/>
              </a:ext>
            </a:extLst>
          </p:cNvPr>
          <p:cNvSpPr/>
          <p:nvPr/>
        </p:nvSpPr>
        <p:spPr>
          <a:xfrm>
            <a:off x="6704482" y="358513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6"/>
            <a:srcRect/>
            <a:stretch>
              <a:fillRect/>
            </a:stretch>
          </a:blip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E4FC5ED8-F523-1592-EBE1-380073618143}"/>
                  </a:ext>
                </a:extLst>
              </p:cNvPr>
              <p:cNvSpPr txBox="1"/>
              <p:nvPr/>
            </p:nvSpPr>
            <p:spPr>
              <a:xfrm>
                <a:off x="6744966" y="121332"/>
                <a:ext cx="673582" cy="237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l-GR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sSubSup>
                        <m:sSubSupPr>
                          <m:ctrlP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" altLang="zh-CN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𝑔𝑒𝑜</m:t>
                          </m:r>
                        </m:sup>
                      </m:sSubSup>
                    </m:oMath>
                  </m:oMathPara>
                </a14:m>
                <a:endParaRPr kumimoji="1" lang="zh-CN" altLang="en-US" sz="1400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C402253-BA10-D4D7-8665-2781CE517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966" y="121332"/>
                <a:ext cx="673582" cy="237181"/>
              </a:xfrm>
              <a:prstGeom prst="rect">
                <a:avLst/>
              </a:prstGeom>
              <a:blipFill>
                <a:blip r:embed="rId7"/>
                <a:stretch>
                  <a:fillRect l="-3636" r="-1818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圆角矩形 56">
            <a:extLst>
              <a:ext uri="{FF2B5EF4-FFF2-40B4-BE49-F238E27FC236}">
                <a16:creationId xmlns:a16="http://schemas.microsoft.com/office/drawing/2014/main" id="{467E8B1B-5E0C-8483-FE21-DDB6CE017B55}"/>
              </a:ext>
            </a:extLst>
          </p:cNvPr>
          <p:cNvSpPr/>
          <p:nvPr/>
        </p:nvSpPr>
        <p:spPr>
          <a:xfrm>
            <a:off x="4686602" y="1371737"/>
            <a:ext cx="2818795" cy="581758"/>
          </a:xfrm>
          <a:prstGeom prst="roundRect">
            <a:avLst/>
          </a:prstGeom>
          <a:solidFill>
            <a:srgbClr val="F6FBF6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zh-CN">
                <a:latin typeface="SimSun" panose="02010600030101010101" pitchFamily="2" charset="-122"/>
                <a:ea typeface="SimSun" panose="02010600030101010101" pitchFamily="2" charset="-122"/>
              </a:rPr>
              <a:t>通道维拼接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圆角矩形 57">
                <a:extLst>
                  <a:ext uri="{FF2B5EF4-FFF2-40B4-BE49-F238E27FC236}">
                    <a16:creationId xmlns:a16="http://schemas.microsoft.com/office/drawing/2014/main" id="{C6D913DF-A9F6-18B7-DAA2-F8506098CA32}"/>
                  </a:ext>
                </a:extLst>
              </p:cNvPr>
              <p:cNvSpPr/>
              <p:nvPr/>
            </p:nvSpPr>
            <p:spPr>
              <a:xfrm>
                <a:off x="4686602" y="2351158"/>
                <a:ext cx="2818795" cy="581758"/>
              </a:xfrm>
              <a:prstGeom prst="roundRect">
                <a:avLst/>
              </a:prstGeom>
              <a:solidFill>
                <a:srgbClr val="F6FBF6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3</a:t>
                </a: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 </a:t>
                </a:r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3</a:t>
                </a: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 </a:t>
                </a:r>
                <a:r>
                  <a:rPr kumimoji="1" lang="zh-CN" altLang="en-US" kern="0">
                    <a:solidFill>
                      <a:prstClr val="black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卷积</a:t>
                </a: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r>
                      <a:rPr kumimoji="1" lang="en-US" altLang="zh-C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3</m:t>
                    </m:r>
                    <m:r>
                      <a:rPr kumimoji="1" lang="en-US" altLang="zh-C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→16</m:t>
                    </m:r>
                  </m:oMath>
                </a14:m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>
          <p:sp>
            <p:nvSpPr>
              <p:cNvPr id="58" name="圆角矩形 57">
                <a:extLst>
                  <a:ext uri="{FF2B5EF4-FFF2-40B4-BE49-F238E27FC236}">
                    <a16:creationId xmlns:a16="http://schemas.microsoft.com/office/drawing/2014/main" id="{C6D913DF-A9F6-18B7-DAA2-F8506098CA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602" y="2351158"/>
                <a:ext cx="2818795" cy="581758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圆角矩形 58">
            <a:extLst>
              <a:ext uri="{FF2B5EF4-FFF2-40B4-BE49-F238E27FC236}">
                <a16:creationId xmlns:a16="http://schemas.microsoft.com/office/drawing/2014/main" id="{1D333082-5E5F-6F3B-8E64-2536D4D233B8}"/>
              </a:ext>
            </a:extLst>
          </p:cNvPr>
          <p:cNvSpPr/>
          <p:nvPr/>
        </p:nvSpPr>
        <p:spPr>
          <a:xfrm>
            <a:off x="4686602" y="3195411"/>
            <a:ext cx="2818795" cy="581758"/>
          </a:xfrm>
          <a:prstGeom prst="roundRect">
            <a:avLst/>
          </a:prstGeom>
          <a:solidFill>
            <a:srgbClr val="F6FBF6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zh-CN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LeakyReLU 激活</a:t>
            </a:r>
            <a:endParaRPr lang="en-US" altLang="zh-CN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zh-CN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（负斜率=0.1）</a:t>
            </a:r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2636F63F-94CD-D6E3-9238-C7EDCD2129E8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>
            <a:off x="6096000" y="2932916"/>
            <a:ext cx="0" cy="26249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DF2C62A0-37F3-3E90-4C43-164EA274809C}"/>
              </a:ext>
            </a:extLst>
          </p:cNvPr>
          <p:cNvCxnSpPr>
            <a:cxnSpLocks/>
            <a:stCxn id="57" idx="2"/>
            <a:endCxn id="58" idx="0"/>
          </p:cNvCxnSpPr>
          <p:nvPr/>
        </p:nvCxnSpPr>
        <p:spPr>
          <a:xfrm>
            <a:off x="6096000" y="1953495"/>
            <a:ext cx="0" cy="397663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9F2D7195-9181-FDDE-9D5D-C8119DF0CFEA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5069648" y="940271"/>
            <a:ext cx="0" cy="43146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3" name="直线箭头连接符 62">
            <a:extLst>
              <a:ext uri="{FF2B5EF4-FFF2-40B4-BE49-F238E27FC236}">
                <a16:creationId xmlns:a16="http://schemas.microsoft.com/office/drawing/2014/main" id="{79A15623-934E-CF6E-4CA5-CBB83EFC32BC}"/>
              </a:ext>
            </a:extLst>
          </p:cNvPr>
          <p:cNvCxnSpPr>
            <a:cxnSpLocks/>
            <a:stCxn id="28" idx="3"/>
            <a:endCxn id="57" idx="0"/>
          </p:cNvCxnSpPr>
          <p:nvPr/>
        </p:nvCxnSpPr>
        <p:spPr>
          <a:xfrm>
            <a:off x="6095306" y="940271"/>
            <a:ext cx="694" cy="43146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4" name="直线箭头连接符 63">
            <a:extLst>
              <a:ext uri="{FF2B5EF4-FFF2-40B4-BE49-F238E27FC236}">
                <a16:creationId xmlns:a16="http://schemas.microsoft.com/office/drawing/2014/main" id="{E3314B25-F6B9-69E8-703B-8B692A33E94B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7067208" y="940271"/>
            <a:ext cx="0" cy="43146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圆角矩形 64">
                <a:extLst>
                  <a:ext uri="{FF2B5EF4-FFF2-40B4-BE49-F238E27FC236}">
                    <a16:creationId xmlns:a16="http://schemas.microsoft.com/office/drawing/2014/main" id="{891713C6-3CD2-7252-67AA-F1175155F4DD}"/>
                  </a:ext>
                </a:extLst>
              </p:cNvPr>
              <p:cNvSpPr/>
              <p:nvPr/>
            </p:nvSpPr>
            <p:spPr>
              <a:xfrm>
                <a:off x="4685908" y="4039664"/>
                <a:ext cx="2818795" cy="581758"/>
              </a:xfrm>
              <a:prstGeom prst="roundRect">
                <a:avLst/>
              </a:prstGeom>
              <a:solidFill>
                <a:srgbClr val="F6FBF6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>
                  <a:defRPr/>
                </a:pPr>
                <a:r>
                  <a:rPr kumimoji="1" lang="en-US" altLang="zh-CN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3</a:t>
                </a:r>
                <a:r>
                  <a:rPr kumimoji="1" lang="zh-CN" altLang="en-US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kumimoji="1" lang="zh-CN" altLang="en-US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3</a:t>
                </a:r>
                <a:r>
                  <a:rPr kumimoji="1" lang="zh-CN" altLang="en-US" kern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kern="0">
                    <a:solidFill>
                      <a:prstClr val="black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卷积</a:t>
                </a:r>
                <a:r>
                  <a: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r>
                      <a:rPr kumimoji="1" lang="en-US" altLang="zh-C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16</m:t>
                    </m:r>
                    <m:r>
                      <a:rPr kumimoji="1" lang="en-US" altLang="zh-C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→1</m:t>
                    </m:r>
                  </m:oMath>
                </a14:m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>
          <p:sp>
            <p:nvSpPr>
              <p:cNvPr id="65" name="圆角矩形 64">
                <a:extLst>
                  <a:ext uri="{FF2B5EF4-FFF2-40B4-BE49-F238E27FC236}">
                    <a16:creationId xmlns:a16="http://schemas.microsoft.com/office/drawing/2014/main" id="{891713C6-3CD2-7252-67AA-F1175155F4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908" y="4039664"/>
                <a:ext cx="2818795" cy="581758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A09C9C14-133D-5499-51BC-B576910FC001}"/>
              </a:ext>
            </a:extLst>
          </p:cNvPr>
          <p:cNvCxnSpPr>
            <a:cxnSpLocks/>
            <a:stCxn id="59" idx="2"/>
            <a:endCxn id="65" idx="0"/>
          </p:cNvCxnSpPr>
          <p:nvPr/>
        </p:nvCxnSpPr>
        <p:spPr>
          <a:xfrm flipH="1">
            <a:off x="6095306" y="3777169"/>
            <a:ext cx="694" cy="26249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E55A6A89-0DF0-793C-4AB4-E8ECB2AE8AFB}"/>
              </a:ext>
            </a:extLst>
          </p:cNvPr>
          <p:cNvSpPr/>
          <p:nvPr/>
        </p:nvSpPr>
        <p:spPr>
          <a:xfrm>
            <a:off x="4685907" y="4883917"/>
            <a:ext cx="2818795" cy="581758"/>
          </a:xfrm>
          <a:prstGeom prst="roundRect">
            <a:avLst/>
          </a:prstGeom>
          <a:solidFill>
            <a:srgbClr val="F8EAF1"/>
          </a:solidFill>
          <a:ln w="12700" cap="flat" cmpd="sng" algn="ctr">
            <a:solidFill>
              <a:srgbClr val="9B315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Sigmoid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</a:rPr>
              <a:t>归一化</a:t>
            </a:r>
          </a:p>
        </p:txBody>
      </p: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04D176E2-069E-4981-6AF5-0707E0E5B9CA}"/>
              </a:ext>
            </a:extLst>
          </p:cNvPr>
          <p:cNvCxnSpPr>
            <a:cxnSpLocks/>
            <a:stCxn id="65" idx="2"/>
            <a:endCxn id="67" idx="0"/>
          </p:cNvCxnSpPr>
          <p:nvPr/>
        </p:nvCxnSpPr>
        <p:spPr>
          <a:xfrm flipH="1">
            <a:off x="6095305" y="4621422"/>
            <a:ext cx="1" cy="26249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B39E5A99-185F-9013-083C-D3D9878D8D1E}"/>
              </a:ext>
            </a:extLst>
          </p:cNvPr>
          <p:cNvCxnSpPr>
            <a:cxnSpLocks/>
            <a:stCxn id="67" idx="2"/>
          </p:cNvCxnSpPr>
          <p:nvPr/>
        </p:nvCxnSpPr>
        <p:spPr>
          <a:xfrm flipH="1">
            <a:off x="6095304" y="5465675"/>
            <a:ext cx="1" cy="26249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0" name="立方体 69">
            <a:extLst>
              <a:ext uri="{FF2B5EF4-FFF2-40B4-BE49-F238E27FC236}">
                <a16:creationId xmlns:a16="http://schemas.microsoft.com/office/drawing/2014/main" id="{4F7D4C6B-F8D4-9A40-5530-0949008AB22E}"/>
              </a:ext>
            </a:extLst>
          </p:cNvPr>
          <p:cNvSpPr/>
          <p:nvPr/>
        </p:nvSpPr>
        <p:spPr>
          <a:xfrm>
            <a:off x="5718028" y="5728170"/>
            <a:ext cx="754551" cy="581758"/>
          </a:xfrm>
          <a:prstGeom prst="cube">
            <a:avLst>
              <a:gd name="adj" fmla="val 5002"/>
            </a:avLst>
          </a:prstGeom>
          <a:blipFill dpi="0" rotWithShape="1">
            <a:blip r:embed="rId10"/>
            <a:srcRect/>
            <a:stretch>
              <a:fillRect/>
            </a:stretch>
          </a:blipFill>
          <a:ln w="12700" cap="flat" cmpd="sng" algn="ctr">
            <a:solidFill>
              <a:srgbClr val="4874C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78E7F280-5ADB-BACC-D18E-1AE535D4F6F3}"/>
                  </a:ext>
                </a:extLst>
              </p:cNvPr>
              <p:cNvSpPr txBox="1"/>
              <p:nvPr/>
            </p:nvSpPr>
            <p:spPr>
              <a:xfrm>
                <a:off x="6581306" y="5876029"/>
                <a:ext cx="713272" cy="3680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</m:rPr>
                            <a:rPr lang="en-US" altLang="zh-CN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CN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local</m:t>
                          </m:r>
                        </m:sup>
                      </m:sSubSup>
                    </m:oMath>
                  </m:oMathPara>
                </a14:m>
                <a:endParaRPr kumimoji="1" lang="zh-CN" altLang="en-US" i="1">
                  <a:solidFill>
                    <a:prstClr val="black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4A14C6AE-BE72-FB53-1281-C4D3621C0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306" y="5876029"/>
                <a:ext cx="713272" cy="368049"/>
              </a:xfrm>
              <a:prstGeom prst="rect">
                <a:avLst/>
              </a:prstGeom>
              <a:blipFill>
                <a:blip r:embed="rId11"/>
                <a:stretch>
                  <a:fillRect l="-5263" t="-3333" r="-7018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333BFAF3-CAF2-12AC-60CE-A2D9C7F43946}"/>
                  </a:ext>
                </a:extLst>
              </p:cNvPr>
              <p:cNvSpPr txBox="1"/>
              <p:nvPr/>
            </p:nvSpPr>
            <p:spPr>
              <a:xfrm>
                <a:off x="7836796" y="5887286"/>
                <a:ext cx="133632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×1×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/2×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kumimoji="1" lang="zh-CN" altLang="en-US" sz="1400">
                  <a:solidFill>
                    <a:prstClr val="black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333BFAF3-CAF2-12AC-60CE-A2D9C7F43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796" y="5887286"/>
                <a:ext cx="1336328" cy="215444"/>
              </a:xfrm>
              <a:prstGeom prst="rect">
                <a:avLst/>
              </a:prstGeom>
              <a:blipFill>
                <a:blip r:embed="rId12"/>
                <a:stretch>
                  <a:fillRect l="-2830" r="-1887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814FD772-1CD9-2857-5F21-B239498DEEB7}"/>
                  </a:ext>
                </a:extLst>
              </p:cNvPr>
              <p:cNvSpPr txBox="1"/>
              <p:nvPr/>
            </p:nvSpPr>
            <p:spPr>
              <a:xfrm>
                <a:off x="6179576" y="2048984"/>
                <a:ext cx="133632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×3×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/2×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kumimoji="1" lang="zh-CN" altLang="en-US" sz="1400">
                  <a:solidFill>
                    <a:prstClr val="black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A7081E4A-2652-8F40-F30F-710285044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576" y="2048984"/>
                <a:ext cx="1336328" cy="215444"/>
              </a:xfrm>
              <a:prstGeom prst="rect">
                <a:avLst/>
              </a:prstGeom>
              <a:blipFill>
                <a:blip r:embed="rId13"/>
                <a:stretch>
                  <a:fillRect l="-2830" t="-5556" r="-2830" b="-2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5FB87F86-B76B-1CE7-5F83-5C6DF0B6E3E8}"/>
                  </a:ext>
                </a:extLst>
              </p:cNvPr>
              <p:cNvSpPr txBox="1"/>
              <p:nvPr/>
            </p:nvSpPr>
            <p:spPr>
              <a:xfrm>
                <a:off x="7840123" y="541670"/>
                <a:ext cx="133632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×1×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/2×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kumimoji="1" lang="en" altLang="zh-CN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kumimoji="1" lang="zh-CN" altLang="en-US" sz="1400">
                  <a:solidFill>
                    <a:prstClr val="black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5FB87F86-B76B-1CE7-5F83-5C6DF0B6E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123" y="541670"/>
                <a:ext cx="1336328" cy="215444"/>
              </a:xfrm>
              <a:prstGeom prst="rect">
                <a:avLst/>
              </a:prstGeom>
              <a:blipFill>
                <a:blip r:embed="rId14"/>
                <a:stretch>
                  <a:fillRect l="-2830" r="-2830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300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144</Words>
  <Application>Microsoft Macintosh PowerPoint</Application>
  <PresentationFormat>宽屏</PresentationFormat>
  <Paragraphs>25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等线</vt:lpstr>
      <vt:lpstr>等线 Light</vt:lpstr>
      <vt:lpstr>SimSun</vt:lpstr>
      <vt:lpstr>Arial</vt:lpstr>
      <vt:lpstr>Calibri</vt:lpstr>
      <vt:lpstr>Cambria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a1468</dc:creator>
  <cp:lastModifiedBy>非凡 蔡</cp:lastModifiedBy>
  <cp:revision>4</cp:revision>
  <dcterms:created xsi:type="dcterms:W3CDTF">2026-05-14T12:34:25Z</dcterms:created>
  <dcterms:modified xsi:type="dcterms:W3CDTF">2026-07-03T18:52:03Z</dcterms:modified>
</cp:coreProperties>
</file>